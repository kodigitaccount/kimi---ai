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diagrams/colors1.xml" ContentType="application/vnd.openxmlformats-officedocument.drawingml.diagramColors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revisionInfo.xml" ContentType="application/vnd.ms-powerpoint.revisioninfo+xml"/>
  <Override PartName="/ppt/diagrams/drawing1.xml" ContentType="application/vnd.ms-office.drawingml.diagramDrawing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diagrams/quickStyle1.xml" ContentType="application/vnd.openxmlformats-officedocument.drawingml.diagramStyl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diagrams/layout1.xml" ContentType="application/vnd.openxmlformats-officedocument.drawingml.diagram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diagrams/data1.xml" ContentType="application/vnd.openxmlformats-officedocument.drawingml.diagramData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6" r:id="rId4"/>
    <p:sldId id="259" r:id="rId5"/>
    <p:sldId id="260" r:id="rId6"/>
    <p:sldId id="262" r:id="rId7"/>
    <p:sldId id="261" r:id="rId8"/>
    <p:sldId id="263" r:id="rId9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727AA81-B0D2-460D-AF64-25E1BEC9B293}" v="701" dt="2026-02-14T15:52:56.85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9972" autoAdjust="0"/>
    <p:restoredTop sz="94660"/>
  </p:normalViewPr>
  <p:slideViewPr>
    <p:cSldViewPr snapToGrid="0">
      <p:cViewPr varScale="1">
        <p:scale>
          <a:sx n="87" d="100"/>
          <a:sy n="87" d="100"/>
        </p:scale>
        <p:origin x="-302" y="-8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5/10/relationships/revisionInfo" Target="revisionInfo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9CF3918-5C53-46EE-ADF0-3888D30394B8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26D5E998-8E1C-4D7A-B50B-A8B5FBFA6178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dirty="0"/>
            <a:t>1- Ollama</a:t>
          </a:r>
          <a:endParaRPr lang="en-US" dirty="0"/>
        </a:p>
      </dgm:t>
    </dgm:pt>
    <dgm:pt modelId="{5BC04D85-0E14-499D-BEB5-D674DA502EB0}" type="parTrans" cxnId="{7068A86E-0B05-48EA-B11C-A724DE3AC05E}">
      <dgm:prSet/>
      <dgm:spPr/>
      <dgm:t>
        <a:bodyPr/>
        <a:lstStyle/>
        <a:p>
          <a:endParaRPr lang="en-US"/>
        </a:p>
      </dgm:t>
    </dgm:pt>
    <dgm:pt modelId="{FFCF3E39-8AE0-4C5E-9DB6-D2CE7D5A6B20}" type="sibTrans" cxnId="{7068A86E-0B05-48EA-B11C-A724DE3AC05E}">
      <dgm:prSet/>
      <dgm:spPr/>
      <dgm:t>
        <a:bodyPr/>
        <a:lstStyle/>
        <a:p>
          <a:endParaRPr lang="en-US"/>
        </a:p>
      </dgm:t>
    </dgm:pt>
    <dgm:pt modelId="{596422CB-D88E-42BA-B3CB-65BA25B97B1D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dirty="0"/>
            <a:t>2- using </a:t>
          </a:r>
          <a:r>
            <a:rPr lang="en-GB" dirty="0" err="1"/>
            <a:t>OpenClaw</a:t>
          </a:r>
          <a:r>
            <a:rPr lang="en-GB" dirty="0"/>
            <a:t>  </a:t>
          </a:r>
          <a:r>
            <a:rPr lang="en-GB" dirty="0" err="1"/>
            <a:t>Moonshoot</a:t>
          </a:r>
          <a:r>
            <a:rPr lang="en-GB" dirty="0"/>
            <a:t> Api key </a:t>
          </a:r>
          <a:endParaRPr lang="en-US" dirty="0"/>
        </a:p>
      </dgm:t>
    </dgm:pt>
    <dgm:pt modelId="{61E8DD3F-12A9-46C4-A623-543E63CA5EB7}" type="parTrans" cxnId="{F64F41F9-28D8-4526-81FB-D4AEACCE59B6}">
      <dgm:prSet/>
      <dgm:spPr/>
      <dgm:t>
        <a:bodyPr/>
        <a:lstStyle/>
        <a:p>
          <a:endParaRPr lang="en-US"/>
        </a:p>
      </dgm:t>
    </dgm:pt>
    <dgm:pt modelId="{8972C668-3F6D-4DD9-A128-57C2384A33E5}" type="sibTrans" cxnId="{F64F41F9-28D8-4526-81FB-D4AEACCE59B6}">
      <dgm:prSet/>
      <dgm:spPr/>
      <dgm:t>
        <a:bodyPr/>
        <a:lstStyle/>
        <a:p>
          <a:endParaRPr lang="en-US"/>
        </a:p>
      </dgm:t>
    </dgm:pt>
    <dgm:pt modelId="{374B8E6C-B5E1-42B7-ABDD-8E4C869030A7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dirty="0"/>
            <a:t>3- Using Grog</a:t>
          </a:r>
          <a:endParaRPr lang="en-US" dirty="0"/>
        </a:p>
      </dgm:t>
    </dgm:pt>
    <dgm:pt modelId="{8692EE9B-53CC-4BFA-8571-EC8E46FC2334}" type="parTrans" cxnId="{3CE2C0E4-1AA3-427E-85AC-C346BD6224E8}">
      <dgm:prSet/>
      <dgm:spPr/>
      <dgm:t>
        <a:bodyPr/>
        <a:lstStyle/>
        <a:p>
          <a:endParaRPr lang="en-US"/>
        </a:p>
      </dgm:t>
    </dgm:pt>
    <dgm:pt modelId="{3EEA29CD-23B9-4496-9608-E06EA33E4C9C}" type="sibTrans" cxnId="{3CE2C0E4-1AA3-427E-85AC-C346BD6224E8}">
      <dgm:prSet/>
      <dgm:spPr/>
      <dgm:t>
        <a:bodyPr/>
        <a:lstStyle/>
        <a:p>
          <a:endParaRPr lang="en-US"/>
        </a:p>
      </dgm:t>
    </dgm:pt>
    <dgm:pt modelId="{9C6902B1-4D3F-4701-B46C-54FC82CD8B79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dirty="0"/>
            <a:t>4- Using Open Router</a:t>
          </a:r>
          <a:endParaRPr lang="en-US" dirty="0"/>
        </a:p>
      </dgm:t>
    </dgm:pt>
    <dgm:pt modelId="{891F7DF4-6413-4C05-9645-26A20879A200}" type="parTrans" cxnId="{84CA65FD-650A-424A-B80B-ACAC4CE407FA}">
      <dgm:prSet/>
      <dgm:spPr/>
      <dgm:t>
        <a:bodyPr/>
        <a:lstStyle/>
        <a:p>
          <a:endParaRPr lang="en-US"/>
        </a:p>
      </dgm:t>
    </dgm:pt>
    <dgm:pt modelId="{952E7041-137B-4AAD-96F6-56876B451558}" type="sibTrans" cxnId="{84CA65FD-650A-424A-B80B-ACAC4CE407FA}">
      <dgm:prSet/>
      <dgm:spPr/>
      <dgm:t>
        <a:bodyPr/>
        <a:lstStyle/>
        <a:p>
          <a:endParaRPr lang="en-US"/>
        </a:p>
      </dgm:t>
    </dgm:pt>
    <dgm:pt modelId="{F896A98D-198F-4197-9B14-C7DFA3F5766F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dirty="0"/>
            <a:t>5- Using Hugging Face</a:t>
          </a:r>
          <a:endParaRPr lang="en-US" dirty="0"/>
        </a:p>
      </dgm:t>
    </dgm:pt>
    <dgm:pt modelId="{15DC790F-CB0D-4CC8-A6AA-7D7D8379A75E}" type="parTrans" cxnId="{E0C27542-0A24-406D-982F-9E092586E65A}">
      <dgm:prSet/>
      <dgm:spPr/>
      <dgm:t>
        <a:bodyPr/>
        <a:lstStyle/>
        <a:p>
          <a:endParaRPr lang="en-US"/>
        </a:p>
      </dgm:t>
    </dgm:pt>
    <dgm:pt modelId="{B240B618-702D-4EE9-8561-1D166BBDE86F}" type="sibTrans" cxnId="{E0C27542-0A24-406D-982F-9E092586E65A}">
      <dgm:prSet/>
      <dgm:spPr/>
      <dgm:t>
        <a:bodyPr/>
        <a:lstStyle/>
        <a:p>
          <a:endParaRPr lang="en-US"/>
        </a:p>
      </dgm:t>
    </dgm:pt>
    <dgm:pt modelId="{49328544-E4C3-4733-97C3-C4848FB2F10A}">
      <dgm:prSet/>
      <dgm:spPr/>
      <dgm:t>
        <a:bodyPr/>
        <a:lstStyle/>
        <a:p>
          <a:pPr rtl="0">
            <a:lnSpc>
              <a:spcPct val="100000"/>
            </a:lnSpc>
          </a:pPr>
          <a:r>
            <a:rPr lang="en-GB" dirty="0"/>
            <a:t>6- Using </a:t>
          </a:r>
          <a:r>
            <a:rPr lang="en-GB" dirty="0">
              <a:latin typeface="Aptos Display" panose="020F0302020204030204"/>
            </a:rPr>
            <a:t>Claude Code</a:t>
          </a:r>
          <a:endParaRPr lang="en-US" dirty="0" err="1"/>
        </a:p>
      </dgm:t>
    </dgm:pt>
    <dgm:pt modelId="{E098168D-31AB-4F36-8D8A-7E5F78EABB0F}" type="parTrans" cxnId="{B871BA7E-D366-415B-B36D-EE95FBE1CF37}">
      <dgm:prSet/>
      <dgm:spPr/>
      <dgm:t>
        <a:bodyPr/>
        <a:lstStyle/>
        <a:p>
          <a:endParaRPr lang="en-US"/>
        </a:p>
      </dgm:t>
    </dgm:pt>
    <dgm:pt modelId="{CF43E070-DCB0-42B5-A6E7-851442F68258}" type="sibTrans" cxnId="{B871BA7E-D366-415B-B36D-EE95FBE1CF37}">
      <dgm:prSet/>
      <dgm:spPr/>
      <dgm:t>
        <a:bodyPr/>
        <a:lstStyle/>
        <a:p>
          <a:endParaRPr lang="en-US"/>
        </a:p>
      </dgm:t>
    </dgm:pt>
    <dgm:pt modelId="{D24CC90A-D07F-4F5C-A5DF-929E4ACB787D}" type="pres">
      <dgm:prSet presAssocID="{D9CF3918-5C53-46EE-ADF0-3888D30394B8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DE5A5F72-D5E7-4FE4-9756-F9503F103958}" type="pres">
      <dgm:prSet presAssocID="{26D5E998-8E1C-4D7A-B50B-A8B5FBFA6178}" presName="parentText" presStyleLbl="node1" presStyleIdx="0" presStyleCnt="6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51D0667-D11B-4072-A623-E21D8BAE73F1}" type="pres">
      <dgm:prSet presAssocID="{FFCF3E39-8AE0-4C5E-9DB6-D2CE7D5A6B20}" presName="spacer" presStyleCnt="0"/>
      <dgm:spPr/>
    </dgm:pt>
    <dgm:pt modelId="{59A58550-6E45-4C6C-B14D-59AD81E506F8}" type="pres">
      <dgm:prSet presAssocID="{596422CB-D88E-42BA-B3CB-65BA25B97B1D}" presName="parentText" presStyleLbl="node1" presStyleIdx="1" presStyleCnt="6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0A482F3-0A61-4093-A67E-0539CA72D797}" type="pres">
      <dgm:prSet presAssocID="{8972C668-3F6D-4DD9-A128-57C2384A33E5}" presName="spacer" presStyleCnt="0"/>
      <dgm:spPr/>
    </dgm:pt>
    <dgm:pt modelId="{F609394E-0D5F-4FB2-B59B-3DF1807555A3}" type="pres">
      <dgm:prSet presAssocID="{374B8E6C-B5E1-42B7-ABDD-8E4C869030A7}" presName="parentText" presStyleLbl="node1" presStyleIdx="2" presStyleCnt="6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607C2AA-6616-4A2F-9961-44E54D7E87D7}" type="pres">
      <dgm:prSet presAssocID="{3EEA29CD-23B9-4496-9608-E06EA33E4C9C}" presName="spacer" presStyleCnt="0"/>
      <dgm:spPr/>
    </dgm:pt>
    <dgm:pt modelId="{94B4C9CB-B85F-4A9B-8765-4D5B2F3EDBF9}" type="pres">
      <dgm:prSet presAssocID="{9C6902B1-4D3F-4701-B46C-54FC82CD8B79}" presName="parentText" presStyleLbl="node1" presStyleIdx="3" presStyleCnt="6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8CE1B8D-C532-4C51-BAE2-DDD09DEAC963}" type="pres">
      <dgm:prSet presAssocID="{952E7041-137B-4AAD-96F6-56876B451558}" presName="spacer" presStyleCnt="0"/>
      <dgm:spPr/>
    </dgm:pt>
    <dgm:pt modelId="{71B03984-E044-45B5-99E3-6B099C6FD529}" type="pres">
      <dgm:prSet presAssocID="{F896A98D-198F-4197-9B14-C7DFA3F5766F}" presName="parentText" presStyleLbl="node1" presStyleIdx="4" presStyleCnt="6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F6F55DD-AB9E-4995-9D1E-161776EADEAB}" type="pres">
      <dgm:prSet presAssocID="{B240B618-702D-4EE9-8561-1D166BBDE86F}" presName="spacer" presStyleCnt="0"/>
      <dgm:spPr/>
    </dgm:pt>
    <dgm:pt modelId="{9E284A44-9319-4672-AC5A-AF01804F7C4B}" type="pres">
      <dgm:prSet presAssocID="{49328544-E4C3-4733-97C3-C4848FB2F10A}" presName="parentText" presStyleLbl="node1" presStyleIdx="5" presStyleCnt="6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F64F41F9-28D8-4526-81FB-D4AEACCE59B6}" srcId="{D9CF3918-5C53-46EE-ADF0-3888D30394B8}" destId="{596422CB-D88E-42BA-B3CB-65BA25B97B1D}" srcOrd="1" destOrd="0" parTransId="{61E8DD3F-12A9-46C4-A623-543E63CA5EB7}" sibTransId="{8972C668-3F6D-4DD9-A128-57C2384A33E5}"/>
    <dgm:cxn modelId="{E0C27542-0A24-406D-982F-9E092586E65A}" srcId="{D9CF3918-5C53-46EE-ADF0-3888D30394B8}" destId="{F896A98D-198F-4197-9B14-C7DFA3F5766F}" srcOrd="4" destOrd="0" parTransId="{15DC790F-CB0D-4CC8-A6AA-7D7D8379A75E}" sibTransId="{B240B618-702D-4EE9-8561-1D166BBDE86F}"/>
    <dgm:cxn modelId="{84CA65FD-650A-424A-B80B-ACAC4CE407FA}" srcId="{D9CF3918-5C53-46EE-ADF0-3888D30394B8}" destId="{9C6902B1-4D3F-4701-B46C-54FC82CD8B79}" srcOrd="3" destOrd="0" parTransId="{891F7DF4-6413-4C05-9645-26A20879A200}" sibTransId="{952E7041-137B-4AAD-96F6-56876B451558}"/>
    <dgm:cxn modelId="{A55E3B8B-B2D2-4B4C-BBC6-574514F1941A}" type="presOf" srcId="{49328544-E4C3-4733-97C3-C4848FB2F10A}" destId="{9E284A44-9319-4672-AC5A-AF01804F7C4B}" srcOrd="0" destOrd="0" presId="urn:microsoft.com/office/officeart/2005/8/layout/vList2"/>
    <dgm:cxn modelId="{27BD63F3-C1AF-4058-940C-71784CC98920}" type="presOf" srcId="{596422CB-D88E-42BA-B3CB-65BA25B97B1D}" destId="{59A58550-6E45-4C6C-B14D-59AD81E506F8}" srcOrd="0" destOrd="0" presId="urn:microsoft.com/office/officeart/2005/8/layout/vList2"/>
    <dgm:cxn modelId="{5E88041B-D620-441D-B7E8-E160FE00764D}" type="presOf" srcId="{F896A98D-198F-4197-9B14-C7DFA3F5766F}" destId="{71B03984-E044-45B5-99E3-6B099C6FD529}" srcOrd="0" destOrd="0" presId="urn:microsoft.com/office/officeart/2005/8/layout/vList2"/>
    <dgm:cxn modelId="{8FC95615-ACDB-4612-8BC3-048056F7E3E9}" type="presOf" srcId="{374B8E6C-B5E1-42B7-ABDD-8E4C869030A7}" destId="{F609394E-0D5F-4FB2-B59B-3DF1807555A3}" srcOrd="0" destOrd="0" presId="urn:microsoft.com/office/officeart/2005/8/layout/vList2"/>
    <dgm:cxn modelId="{6836263A-0199-4518-8608-B36682A8EDCE}" type="presOf" srcId="{9C6902B1-4D3F-4701-B46C-54FC82CD8B79}" destId="{94B4C9CB-B85F-4A9B-8765-4D5B2F3EDBF9}" srcOrd="0" destOrd="0" presId="urn:microsoft.com/office/officeart/2005/8/layout/vList2"/>
    <dgm:cxn modelId="{B11379F6-DABF-4D52-B35E-6089B3BCA5A3}" type="presOf" srcId="{D9CF3918-5C53-46EE-ADF0-3888D30394B8}" destId="{D24CC90A-D07F-4F5C-A5DF-929E4ACB787D}" srcOrd="0" destOrd="0" presId="urn:microsoft.com/office/officeart/2005/8/layout/vList2"/>
    <dgm:cxn modelId="{3CE2C0E4-1AA3-427E-85AC-C346BD6224E8}" srcId="{D9CF3918-5C53-46EE-ADF0-3888D30394B8}" destId="{374B8E6C-B5E1-42B7-ABDD-8E4C869030A7}" srcOrd="2" destOrd="0" parTransId="{8692EE9B-53CC-4BFA-8571-EC8E46FC2334}" sibTransId="{3EEA29CD-23B9-4496-9608-E06EA33E4C9C}"/>
    <dgm:cxn modelId="{7068A86E-0B05-48EA-B11C-A724DE3AC05E}" srcId="{D9CF3918-5C53-46EE-ADF0-3888D30394B8}" destId="{26D5E998-8E1C-4D7A-B50B-A8B5FBFA6178}" srcOrd="0" destOrd="0" parTransId="{5BC04D85-0E14-499D-BEB5-D674DA502EB0}" sibTransId="{FFCF3E39-8AE0-4C5E-9DB6-D2CE7D5A6B20}"/>
    <dgm:cxn modelId="{B871BA7E-D366-415B-B36D-EE95FBE1CF37}" srcId="{D9CF3918-5C53-46EE-ADF0-3888D30394B8}" destId="{49328544-E4C3-4733-97C3-C4848FB2F10A}" srcOrd="5" destOrd="0" parTransId="{E098168D-31AB-4F36-8D8A-7E5F78EABB0F}" sibTransId="{CF43E070-DCB0-42B5-A6E7-851442F68258}"/>
    <dgm:cxn modelId="{3075E5FC-F96E-43C9-8444-837B4E1E214B}" type="presOf" srcId="{26D5E998-8E1C-4D7A-B50B-A8B5FBFA6178}" destId="{DE5A5F72-D5E7-4FE4-9756-F9503F103958}" srcOrd="0" destOrd="0" presId="urn:microsoft.com/office/officeart/2005/8/layout/vList2"/>
    <dgm:cxn modelId="{B7B36C38-197A-441F-B79C-D94A813DFF09}" type="presParOf" srcId="{D24CC90A-D07F-4F5C-A5DF-929E4ACB787D}" destId="{DE5A5F72-D5E7-4FE4-9756-F9503F103958}" srcOrd="0" destOrd="0" presId="urn:microsoft.com/office/officeart/2005/8/layout/vList2"/>
    <dgm:cxn modelId="{24CD8B37-17F8-4F3A-ABFD-28BDCD2FF754}" type="presParOf" srcId="{D24CC90A-D07F-4F5C-A5DF-929E4ACB787D}" destId="{251D0667-D11B-4072-A623-E21D8BAE73F1}" srcOrd="1" destOrd="0" presId="urn:microsoft.com/office/officeart/2005/8/layout/vList2"/>
    <dgm:cxn modelId="{CF71E265-CD62-4827-86A0-5C15A4F058CE}" type="presParOf" srcId="{D24CC90A-D07F-4F5C-A5DF-929E4ACB787D}" destId="{59A58550-6E45-4C6C-B14D-59AD81E506F8}" srcOrd="2" destOrd="0" presId="urn:microsoft.com/office/officeart/2005/8/layout/vList2"/>
    <dgm:cxn modelId="{E2291092-4D44-4157-8312-256BDCACA520}" type="presParOf" srcId="{D24CC90A-D07F-4F5C-A5DF-929E4ACB787D}" destId="{50A482F3-0A61-4093-A67E-0539CA72D797}" srcOrd="3" destOrd="0" presId="urn:microsoft.com/office/officeart/2005/8/layout/vList2"/>
    <dgm:cxn modelId="{92A8D18F-5C1C-4647-80F6-34AB3907A210}" type="presParOf" srcId="{D24CC90A-D07F-4F5C-A5DF-929E4ACB787D}" destId="{F609394E-0D5F-4FB2-B59B-3DF1807555A3}" srcOrd="4" destOrd="0" presId="urn:microsoft.com/office/officeart/2005/8/layout/vList2"/>
    <dgm:cxn modelId="{99E2D701-9C2E-4DA1-BA45-E6C81471FC96}" type="presParOf" srcId="{D24CC90A-D07F-4F5C-A5DF-929E4ACB787D}" destId="{1607C2AA-6616-4A2F-9961-44E54D7E87D7}" srcOrd="5" destOrd="0" presId="urn:microsoft.com/office/officeart/2005/8/layout/vList2"/>
    <dgm:cxn modelId="{B0D4B93B-B97B-4A74-8575-BD891EBE0BBC}" type="presParOf" srcId="{D24CC90A-D07F-4F5C-A5DF-929E4ACB787D}" destId="{94B4C9CB-B85F-4A9B-8765-4D5B2F3EDBF9}" srcOrd="6" destOrd="0" presId="urn:microsoft.com/office/officeart/2005/8/layout/vList2"/>
    <dgm:cxn modelId="{183AEFA3-AB7F-4120-98DE-526C39572D50}" type="presParOf" srcId="{D24CC90A-D07F-4F5C-A5DF-929E4ACB787D}" destId="{A8CE1B8D-C532-4C51-BAE2-DDD09DEAC963}" srcOrd="7" destOrd="0" presId="urn:microsoft.com/office/officeart/2005/8/layout/vList2"/>
    <dgm:cxn modelId="{3D8A3587-EE71-4038-BE99-CB33960838E2}" type="presParOf" srcId="{D24CC90A-D07F-4F5C-A5DF-929E4ACB787D}" destId="{71B03984-E044-45B5-99E3-6B099C6FD529}" srcOrd="8" destOrd="0" presId="urn:microsoft.com/office/officeart/2005/8/layout/vList2"/>
    <dgm:cxn modelId="{55B7F22C-EE66-4E26-AF59-54ECB758E738}" type="presParOf" srcId="{D24CC90A-D07F-4F5C-A5DF-929E4ACB787D}" destId="{AF6F55DD-AB9E-4995-9D1E-161776EADEAB}" srcOrd="9" destOrd="0" presId="urn:microsoft.com/office/officeart/2005/8/layout/vList2"/>
    <dgm:cxn modelId="{BB32A11E-8E36-448F-A28B-834BDE16AA8E}" type="presParOf" srcId="{D24CC90A-D07F-4F5C-A5DF-929E4ACB787D}" destId="{9E284A44-9319-4672-AC5A-AF01804F7C4B}" srcOrd="10" destOrd="0" presId="urn:microsoft.com/office/officeart/2005/8/layout/vList2"/>
  </dgm:cxnLst>
  <dgm:bg/>
  <dgm:whole/>
  <dgm:extLst>
    <a:ext uri="http://schemas.microsoft.com/office/drawing/2008/diagram">
      <dsp:dataModelExt xmlns=""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E5A5F72-D5E7-4FE4-9756-F9503F103958}">
      <dsp:nvSpPr>
        <dsp:cNvPr id="0" name=""/>
        <dsp:cNvSpPr/>
      </dsp:nvSpPr>
      <dsp:spPr>
        <a:xfrm>
          <a:off x="0" y="1006"/>
          <a:ext cx="7203461" cy="7722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000" kern="1200" dirty="0"/>
            <a:t>1- Ollama</a:t>
          </a:r>
          <a:endParaRPr lang="en-US" sz="3000" kern="1200" dirty="0"/>
        </a:p>
      </dsp:txBody>
      <dsp:txXfrm>
        <a:off x="37696" y="38702"/>
        <a:ext cx="7128069" cy="696808"/>
      </dsp:txXfrm>
    </dsp:sp>
    <dsp:sp modelId="{59A58550-6E45-4C6C-B14D-59AD81E506F8}">
      <dsp:nvSpPr>
        <dsp:cNvPr id="0" name=""/>
        <dsp:cNvSpPr/>
      </dsp:nvSpPr>
      <dsp:spPr>
        <a:xfrm>
          <a:off x="0" y="859606"/>
          <a:ext cx="7203461" cy="772200"/>
        </a:xfrm>
        <a:prstGeom prst="roundRect">
          <a:avLst/>
        </a:prstGeom>
        <a:solidFill>
          <a:schemeClr val="accent2">
            <a:hueOff val="1288723"/>
            <a:satOff val="-3699"/>
            <a:lumOff val="-592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000" kern="1200" dirty="0"/>
            <a:t>2- using </a:t>
          </a:r>
          <a:r>
            <a:rPr lang="en-GB" sz="3000" kern="1200" dirty="0" err="1"/>
            <a:t>OpenClaw</a:t>
          </a:r>
          <a:r>
            <a:rPr lang="en-GB" sz="3000" kern="1200" dirty="0"/>
            <a:t>  </a:t>
          </a:r>
          <a:r>
            <a:rPr lang="en-GB" sz="3000" kern="1200" dirty="0" err="1"/>
            <a:t>Moonshoot</a:t>
          </a:r>
          <a:r>
            <a:rPr lang="en-GB" sz="3000" kern="1200" dirty="0"/>
            <a:t> Api key </a:t>
          </a:r>
          <a:endParaRPr lang="en-US" sz="3000" kern="1200" dirty="0"/>
        </a:p>
      </dsp:txBody>
      <dsp:txXfrm>
        <a:off x="37696" y="897302"/>
        <a:ext cx="7128069" cy="696808"/>
      </dsp:txXfrm>
    </dsp:sp>
    <dsp:sp modelId="{F609394E-0D5F-4FB2-B59B-3DF1807555A3}">
      <dsp:nvSpPr>
        <dsp:cNvPr id="0" name=""/>
        <dsp:cNvSpPr/>
      </dsp:nvSpPr>
      <dsp:spPr>
        <a:xfrm>
          <a:off x="0" y="1718206"/>
          <a:ext cx="7203461" cy="772200"/>
        </a:xfrm>
        <a:prstGeom prst="roundRect">
          <a:avLst/>
        </a:prstGeom>
        <a:solidFill>
          <a:schemeClr val="accent2">
            <a:hueOff val="2577445"/>
            <a:satOff val="-7397"/>
            <a:lumOff val="-1184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000" kern="1200" dirty="0"/>
            <a:t>3- Using Grog</a:t>
          </a:r>
          <a:endParaRPr lang="en-US" sz="3000" kern="1200" dirty="0"/>
        </a:p>
      </dsp:txBody>
      <dsp:txXfrm>
        <a:off x="37696" y="1755902"/>
        <a:ext cx="7128069" cy="696808"/>
      </dsp:txXfrm>
    </dsp:sp>
    <dsp:sp modelId="{94B4C9CB-B85F-4A9B-8765-4D5B2F3EDBF9}">
      <dsp:nvSpPr>
        <dsp:cNvPr id="0" name=""/>
        <dsp:cNvSpPr/>
      </dsp:nvSpPr>
      <dsp:spPr>
        <a:xfrm>
          <a:off x="0" y="2576806"/>
          <a:ext cx="7203461" cy="772200"/>
        </a:xfrm>
        <a:prstGeom prst="roundRect">
          <a:avLst/>
        </a:prstGeom>
        <a:solidFill>
          <a:schemeClr val="accent2">
            <a:hueOff val="3866169"/>
            <a:satOff val="-11096"/>
            <a:lumOff val="-1776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000" kern="1200" dirty="0"/>
            <a:t>4- Using Open Router</a:t>
          </a:r>
          <a:endParaRPr lang="en-US" sz="3000" kern="1200" dirty="0"/>
        </a:p>
      </dsp:txBody>
      <dsp:txXfrm>
        <a:off x="37696" y="2614502"/>
        <a:ext cx="7128069" cy="696808"/>
      </dsp:txXfrm>
    </dsp:sp>
    <dsp:sp modelId="{71B03984-E044-45B5-99E3-6B099C6FD529}">
      <dsp:nvSpPr>
        <dsp:cNvPr id="0" name=""/>
        <dsp:cNvSpPr/>
      </dsp:nvSpPr>
      <dsp:spPr>
        <a:xfrm>
          <a:off x="0" y="3435406"/>
          <a:ext cx="7203461" cy="772200"/>
        </a:xfrm>
        <a:prstGeom prst="roundRect">
          <a:avLst/>
        </a:prstGeom>
        <a:solidFill>
          <a:schemeClr val="accent2">
            <a:hueOff val="5154891"/>
            <a:satOff val="-14794"/>
            <a:lumOff val="-2368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000" kern="1200" dirty="0"/>
            <a:t>5- Using Hugging Face</a:t>
          </a:r>
          <a:endParaRPr lang="en-US" sz="3000" kern="1200" dirty="0"/>
        </a:p>
      </dsp:txBody>
      <dsp:txXfrm>
        <a:off x="37696" y="3473102"/>
        <a:ext cx="7128069" cy="696808"/>
      </dsp:txXfrm>
    </dsp:sp>
    <dsp:sp modelId="{9E284A44-9319-4672-AC5A-AF01804F7C4B}">
      <dsp:nvSpPr>
        <dsp:cNvPr id="0" name=""/>
        <dsp:cNvSpPr/>
      </dsp:nvSpPr>
      <dsp:spPr>
        <a:xfrm>
          <a:off x="0" y="4294006"/>
          <a:ext cx="7203461" cy="772200"/>
        </a:xfrm>
        <a:prstGeom prst="round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000" kern="1200" dirty="0"/>
            <a:t>6- Using </a:t>
          </a:r>
          <a:r>
            <a:rPr lang="en-GB" sz="3000" kern="1200" dirty="0">
              <a:latin typeface="Aptos Display" panose="020F0302020204030204"/>
            </a:rPr>
            <a:t>Claude Code</a:t>
          </a:r>
          <a:endParaRPr lang="en-US" sz="3000" kern="1200" dirty="0" err="1"/>
        </a:p>
      </dsp:txBody>
      <dsp:txXfrm>
        <a:off x="37696" y="4331702"/>
        <a:ext cx="7128069" cy="69680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pPr/>
              <a:t>15/02/2026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=""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pPr/>
              <a:t>15/02/2026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=""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pPr/>
              <a:t>15/02/2026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=""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pPr/>
              <a:t>15/02/2026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=""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pPr/>
              <a:t>15/02/2026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=""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pPr/>
              <a:t>15/02/2026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=""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pPr/>
              <a:t>15/02/2026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=""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pPr/>
              <a:t>15/02/2026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=""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pPr/>
              <a:t>15/02/2026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=""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pPr/>
              <a:t>15/02/2026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=""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pPr/>
              <a:t>15/02/2026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=""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GB" smtClean="0"/>
              <a:pPr/>
              <a:t>15/02/2026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=""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B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hyperlink" Target="https://platform.moonshot.ai/docs/guide/kimi-k2-5-quickstart" TargetMode="External"/><Relationship Id="rId3" Type="http://schemas.openxmlformats.org/officeDocument/2006/relationships/hyperlink" Target="https://www.kimi.com/blog/kimi-k2-5.html" TargetMode="External"/><Relationship Id="rId7" Type="http://schemas.openxmlformats.org/officeDocument/2006/relationships/hyperlink" Target="https://developers.openai.com/cookbook" TargetMode="External"/><Relationship Id="rId2" Type="http://schemas.openxmlformats.org/officeDocument/2006/relationships/hyperlink" Target="https://github.com/MoonshotAI/Kimi-K2.5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ithub.com/moonshotai" TargetMode="External"/><Relationship Id="rId5" Type="http://schemas.openxmlformats.org/officeDocument/2006/relationships/hyperlink" Target="https://platform.moonshot.ai/console/api-keys" TargetMode="External"/><Relationship Id="rId4" Type="http://schemas.openxmlformats.org/officeDocument/2006/relationships/hyperlink" Target="https://www.moonshot.ai/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playlist?list=PLVlQHNRLflP8Pt3wVlRWRaXZXi79cIwSq" TargetMode="External"/><Relationship Id="rId2" Type="http://schemas.openxmlformats.org/officeDocument/2006/relationships/hyperlink" Target="https://www.youtube.com/watch?v=QdznP9S1wS0" TargetMode="Externa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.jpeg"/><Relationship Id="rId4" Type="http://schemas.openxmlformats.org/officeDocument/2006/relationships/hyperlink" Target="https://zoom.us/j/82006090582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urple and orange gradient&#10;&#10;AI-generated content may be incorrect.">
            <a:extLst>
              <a:ext uri="{FF2B5EF4-FFF2-40B4-BE49-F238E27FC236}">
                <a16:creationId xmlns="" xmlns:a16="http://schemas.microsoft.com/office/drawing/2014/main" id="{03BEF799-B598-37B6-EADF-2693F9D2B28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80"/>
          <a:stretch>
            <a:fillRect/>
          </a:stretch>
        </p:blipFill>
        <p:spPr>
          <a:xfrm>
            <a:off x="-6588" y="10"/>
            <a:ext cx="12198588" cy="685799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40141700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42A4FC2C-047E-45A5-965D-8E1E3BF09BC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black and white table with white text&#10;&#10;AI-generated content may be incorrect.">
            <a:extLst>
              <a:ext uri="{FF2B5EF4-FFF2-40B4-BE49-F238E27FC236}">
                <a16:creationId xmlns="" xmlns:a16="http://schemas.microsoft.com/office/drawing/2014/main" id="{9B17BDC7-1968-C3E2-800C-01AB9B4641B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900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9079134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D7A453D2-15D8-4403-815F-291FA16340D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="" xmlns:a16="http://schemas.microsoft.com/office/drawing/2014/main" id="{8161EA6B-09CA-445B-AB0D-8DF76FA92DE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="" xmlns:a16="http://schemas.microsoft.com/office/drawing/2014/main" id="{913B067F-3154-4968-A886-DF93A787EC4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14" name="Oval 13">
              <a:extLst>
                <a:ext uri="{FF2B5EF4-FFF2-40B4-BE49-F238E27FC236}">
                  <a16:creationId xmlns="" xmlns:a16="http://schemas.microsoft.com/office/drawing/2014/main" id="{97583D6C-C05B-47AB-8540-B2700B82A4AE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="" xmlns:a16="http://schemas.microsoft.com/office/drawing/2014/main" id="{6501AD91-D973-4968-95E4-4C26CFDF8F79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="" xmlns:a16="http://schemas.microsoft.com/office/drawing/2014/main" id="{5C165989-F5FE-4BB6-9817-E7828CB1D6E0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="" xmlns:a16="http://schemas.microsoft.com/office/drawing/2014/main" id="{6B0649CC-B912-4E82-BEA0-DA75ECB19A67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Oval 17">
              <a:extLst>
                <a:ext uri="{FF2B5EF4-FFF2-40B4-BE49-F238E27FC236}">
                  <a16:creationId xmlns="" xmlns:a16="http://schemas.microsoft.com/office/drawing/2014/main" id="{6BA08C17-C9A5-4FA8-ABC4-44FB3B869672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="" xmlns:a16="http://schemas.microsoft.com/office/drawing/2014/main" id="{70DEAC6C-553C-437E-BC17-D44952337564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1" name="Rectangle 20">
            <a:extLst>
              <a:ext uri="{FF2B5EF4-FFF2-40B4-BE49-F238E27FC236}">
                <a16:creationId xmlns="" xmlns:a16="http://schemas.microsoft.com/office/drawing/2014/main" id="{B8114C98-A349-4111-A123-E8EAB86ABE3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3" name="Group 22">
            <a:extLst>
              <a:ext uri="{FF2B5EF4-FFF2-40B4-BE49-F238E27FC236}">
                <a16:creationId xmlns="" xmlns:a16="http://schemas.microsoft.com/office/drawing/2014/main" id="{670FB431-AE18-414D-92F4-1D12D199115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24" name="Straight Connector 23">
              <a:extLst>
                <a:ext uri="{FF2B5EF4-FFF2-40B4-BE49-F238E27FC236}">
                  <a16:creationId xmlns="" xmlns:a16="http://schemas.microsoft.com/office/drawing/2014/main" id="{24467063-D74E-4D42-8790-B9F6D69584BE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="" xmlns:a16="http://schemas.microsoft.com/office/drawing/2014/main" id="{A1D19BAC-1681-47BC-AAF5-92FAFFF6F4CE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="" xmlns:a16="http://schemas.microsoft.com/office/drawing/2014/main" id="{94347C2B-E846-452C-97AA-7E254FC1CE8F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="" xmlns:a16="http://schemas.microsoft.com/office/drawing/2014/main" id="{10EA2B35-7959-4C2A-84AA-FF5D94FEDE90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Rectangle 28">
            <a:extLst>
              <a:ext uri="{FF2B5EF4-FFF2-40B4-BE49-F238E27FC236}">
                <a16:creationId xmlns="" xmlns:a16="http://schemas.microsoft.com/office/drawing/2014/main" id="{E2D3D3F2-ABBB-4453-B1C5-1BEBF7E4DD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1" name="Group 30">
            <a:extLst>
              <a:ext uri="{FF2B5EF4-FFF2-40B4-BE49-F238E27FC236}">
                <a16:creationId xmlns="" xmlns:a16="http://schemas.microsoft.com/office/drawing/2014/main" id="{8214E4A5-A0D2-42C4-8D14-D2A7E495F04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32" name="Straight Connector 31">
              <a:extLst>
                <a:ext uri="{FF2B5EF4-FFF2-40B4-BE49-F238E27FC236}">
                  <a16:creationId xmlns="" xmlns:a16="http://schemas.microsoft.com/office/drawing/2014/main" id="{7494D7A0-6B21-41E8-A7D3-0033BBB79156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="" xmlns:a16="http://schemas.microsoft.com/office/drawing/2014/main" id="{1E141D7D-32B0-448E-A666-EA8703AFCF2C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="" xmlns:a16="http://schemas.microsoft.com/office/drawing/2014/main" id="{8D87E268-6345-420F-8B97-B37ED04100EC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="" xmlns:a16="http://schemas.microsoft.com/office/drawing/2014/main" id="{35E1622E-7FA6-4760-A2BF-A8105EBF7BB9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46327" y="163963"/>
            <a:ext cx="6617307" cy="682891"/>
          </a:xfrm>
          <a:noFill/>
        </p:spPr>
        <p:txBody>
          <a:bodyPr vert="horz" lIns="91440" tIns="45720" rIns="91440" bIns="45720" rtlCol="0" anchor="t">
            <a:normAutofit fontScale="90000"/>
          </a:bodyPr>
          <a:lstStyle/>
          <a:p>
            <a:pPr algn="l"/>
            <a:r>
              <a:rPr lang="en-US" sz="4800" b="1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What is Kimi K2, 2.5 ?</a:t>
            </a:r>
          </a:p>
        </p:txBody>
      </p:sp>
      <p:pic>
        <p:nvPicPr>
          <p:cNvPr id="4" name="Picture 3" descr="A person in a suit&#10;&#10;AI-generated content may be incorrect.">
            <a:extLst>
              <a:ext uri="{FF2B5EF4-FFF2-40B4-BE49-F238E27FC236}">
                <a16:creationId xmlns="" xmlns:a16="http://schemas.microsoft.com/office/drawing/2014/main" id="{0B2B533A-04D3-018A-5B76-072780ED46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832" y="849694"/>
            <a:ext cx="11876465" cy="3066463"/>
          </a:xfrm>
          <a:prstGeom prst="rect">
            <a:avLst/>
          </a:prstGeom>
        </p:spPr>
      </p:pic>
      <p:grpSp>
        <p:nvGrpSpPr>
          <p:cNvPr id="37" name="Group 36">
            <a:extLst>
              <a:ext uri="{FF2B5EF4-FFF2-40B4-BE49-F238E27FC236}">
                <a16:creationId xmlns="" xmlns:a16="http://schemas.microsoft.com/office/drawing/2014/main" id="{1F4E1649-4D1F-4A91-AF97-A254BFDD524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GrpSpPr>
        <p:grpSpPr>
          <a:xfrm rot="16200000">
            <a:off x="474192" y="776904"/>
            <a:ext cx="304800" cy="429768"/>
            <a:chOff x="215328" y="-46937"/>
            <a:chExt cx="304800" cy="2773841"/>
          </a:xfrm>
        </p:grpSpPr>
        <p:cxnSp>
          <p:nvCxnSpPr>
            <p:cNvPr id="38" name="Straight Connector 37">
              <a:extLst>
                <a:ext uri="{FF2B5EF4-FFF2-40B4-BE49-F238E27FC236}">
                  <a16:creationId xmlns="" xmlns:a16="http://schemas.microsoft.com/office/drawing/2014/main" id="{FE483602-62F9-474D-9C9B-5EE4CD7671CB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="" xmlns:a16="http://schemas.microsoft.com/office/drawing/2014/main" id="{DD7D1AC0-A6C7-40E3-9841-F34AC831A483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="" xmlns:a16="http://schemas.microsoft.com/office/drawing/2014/main" id="{F951C4DD-7427-497D-9DE3-9D731D3F456E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="" xmlns:a16="http://schemas.microsoft.com/office/drawing/2014/main" id="{0EE18298-0BF5-4D7A-921A-2F4186E8D96A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3" name="Oval 42">
            <a:extLst>
              <a:ext uri="{FF2B5EF4-FFF2-40B4-BE49-F238E27FC236}">
                <a16:creationId xmlns="" xmlns:a16="http://schemas.microsoft.com/office/drawing/2014/main" id="{773AEA78-C03B-40B7-9D11-DC022119D57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2600000">
            <a:off x="10150845" y="4270841"/>
            <a:ext cx="1897885" cy="1897885"/>
          </a:xfrm>
          <a:prstGeom prst="ellipse">
            <a:avLst/>
          </a:prstGeom>
          <a:gradFill>
            <a:gsLst>
              <a:gs pos="0">
                <a:schemeClr val="tx2">
                  <a:lumMod val="75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1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0609" y="4018143"/>
            <a:ext cx="11777631" cy="2825339"/>
          </a:xfrm>
          <a:noFill/>
        </p:spPr>
        <p:txBody>
          <a:bodyPr vert="horz" lIns="91440" tIns="45720" rIns="91440" bIns="45720" rtlCol="0" anchor="t">
            <a:noAutofit/>
          </a:bodyPr>
          <a:lstStyle/>
          <a:p>
            <a:pPr marL="571500" indent="-228600" algn="l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  <a:highlight>
                <a:srgbClr val="1F1F1F"/>
              </a:highlight>
              <a:latin typeface="Calibri"/>
              <a:ea typeface="Calibri"/>
              <a:cs typeface="Calibri"/>
            </a:endParaRPr>
          </a:p>
          <a:p>
            <a:pPr marL="571500" indent="-22860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highlight>
                  <a:srgbClr val="1F1F1F"/>
                </a:highlight>
                <a:latin typeface="Calibri"/>
                <a:ea typeface="Calibri"/>
                <a:cs typeface="Calibri"/>
              </a:rPr>
              <a:t>Kimi is an artificial intelligence chatbot. Kimi ai is large language models developed by Chinese company Moonshot AI. </a:t>
            </a:r>
            <a:endParaRPr lang="en-US" dirty="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  <a:p>
            <a:pPr marL="571500" indent="-22860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highlight>
                  <a:srgbClr val="1F1F1F"/>
                </a:highlight>
                <a:latin typeface="Calibri"/>
                <a:ea typeface="Calibri"/>
                <a:cs typeface="Calibri"/>
              </a:rPr>
              <a:t>Its first version K2 was released in 2023, was known for supporting up to 128,000 tokens of context. </a:t>
            </a:r>
            <a:endParaRPr lang="en-US" dirty="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  <a:p>
            <a:pPr marL="571500" indent="-22860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highlight>
                  <a:srgbClr val="1F1F1F"/>
                </a:highlight>
                <a:latin typeface="Calibri"/>
                <a:ea typeface="Calibri"/>
                <a:cs typeface="Calibri"/>
              </a:rPr>
              <a:t>Kimi K2, an open-weight model released in July 2025, showed strong performances on coding benchmarks.</a:t>
            </a:r>
            <a:endParaRPr lang="en-US" dirty="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098572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ack and white background with text&#10;&#10;AI-generated content may be incorrect.">
            <a:extLst>
              <a:ext uri="{FF2B5EF4-FFF2-40B4-BE49-F238E27FC236}">
                <a16:creationId xmlns="" xmlns:a16="http://schemas.microsoft.com/office/drawing/2014/main" id="{43B42545-D1C9-7F5B-67A1-F1AD0CA2CA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" y="4832"/>
            <a:ext cx="12073694" cy="3336510"/>
          </a:xfrm>
          <a:prstGeom prst="rect">
            <a:avLst/>
          </a:prstGeom>
        </p:spPr>
      </p:pic>
      <p:pic>
        <p:nvPicPr>
          <p:cNvPr id="3" name="Picture 2" descr="A white background with black text&#10;&#10;AI-generated content may be incorrect.">
            <a:extLst>
              <a:ext uri="{FF2B5EF4-FFF2-40B4-BE49-F238E27FC236}">
                <a16:creationId xmlns="" xmlns:a16="http://schemas.microsoft.com/office/drawing/2014/main" id="{E4BEA4BC-8DCF-F87E-4015-D11564332A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778" y="3428172"/>
            <a:ext cx="11912185" cy="331470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7260848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="" xmlns:a16="http://schemas.microsoft.com/office/drawing/2014/main" id="{09588DA8-065E-4F6F-8EFD-43104AB2E0C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=""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="" xmlns:a16="http://schemas.microsoft.com/office/drawing/2014/main" id="{C4285719-470E-454C-AF62-8323075F1F5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=""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="" xmlns:a16="http://schemas.microsoft.com/office/drawing/2014/main" id="{CD9FE4EF-C4D8-49A0-B2FF-81D8DB7D8A2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="" xmlns:a16="http://schemas.microsoft.com/office/drawing/2014/main" id="{4300840D-0A0B-4512-BACA-B439D5B9C57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="" xmlns:a16="http://schemas.microsoft.com/office/drawing/2014/main" id="{D2B78728-A580-49A7-84F9-6EF6F583ADE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="" xmlns:a16="http://schemas.microsoft.com/office/drawing/2014/main" id="{38FAA1A1-D861-433F-88FA-1E9D6FD31D1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="" xmlns:a16="http://schemas.microsoft.com/office/drawing/2014/main" id="{8D71EDA1-87BF-4D5D-AB79-F346FD19278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FAFDC958-393B-C084-01ED-F8E3AA7F61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2189296"/>
            <a:ext cx="3201366" cy="1785056"/>
          </a:xfrm>
        </p:spPr>
        <p:txBody>
          <a:bodyPr anchor="b">
            <a:normAutofit/>
          </a:bodyPr>
          <a:lstStyle/>
          <a:p>
            <a:pPr algn="ctr"/>
            <a:r>
              <a:rPr lang="en-GB" sz="4000" dirty="0">
                <a:solidFill>
                  <a:srgbClr val="FFFFFF"/>
                </a:solidFill>
              </a:rPr>
              <a:t>Let's discuss official website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C0917207-AE5F-1F00-B7F4-36D15D248C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3936" y="223657"/>
            <a:ext cx="7989699" cy="6633015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 sz="2400" b="1" dirty="0">
                <a:ea typeface="+mn-lt"/>
                <a:cs typeface="+mn-lt"/>
                <a:hlinkClick r:id="rId2"/>
              </a:rPr>
              <a:t>https://github.com/MoonshotAI/Kimi-K2.5</a:t>
            </a:r>
            <a:endParaRPr lang="en-US" sz="2400" b="1" dirty="0"/>
          </a:p>
          <a:p>
            <a:endParaRPr lang="en-GB" sz="2400" b="1" dirty="0">
              <a:ea typeface="+mn-lt"/>
              <a:cs typeface="+mn-lt"/>
            </a:endParaRPr>
          </a:p>
          <a:p>
            <a:r>
              <a:rPr lang="en-GB" sz="2400" b="1" dirty="0">
                <a:ea typeface="+mn-lt"/>
                <a:cs typeface="+mn-lt"/>
                <a:hlinkClick r:id="rId3"/>
              </a:rPr>
              <a:t>https://www.kimi.com/blog/kimi-k2-5.html</a:t>
            </a:r>
            <a:endParaRPr lang="en-GB" sz="2400" b="1" dirty="0">
              <a:ea typeface="+mn-lt"/>
              <a:cs typeface="+mn-lt"/>
            </a:endParaRPr>
          </a:p>
          <a:p>
            <a:endParaRPr lang="en-GB" sz="2400" b="1" dirty="0">
              <a:ea typeface="+mn-lt"/>
              <a:cs typeface="+mn-lt"/>
            </a:endParaRPr>
          </a:p>
          <a:p>
            <a:r>
              <a:rPr lang="en-GB" sz="2400" b="1" dirty="0">
                <a:ea typeface="+mn-lt"/>
                <a:cs typeface="+mn-lt"/>
                <a:hlinkClick r:id="rId4"/>
              </a:rPr>
              <a:t>https://www.moonshot.ai/</a:t>
            </a:r>
            <a:endParaRPr lang="en-GB" sz="2400" b="1" dirty="0">
              <a:ea typeface="+mn-lt"/>
              <a:cs typeface="+mn-lt"/>
            </a:endParaRPr>
          </a:p>
          <a:p>
            <a:endParaRPr lang="en-GB" sz="2400" b="1" dirty="0"/>
          </a:p>
          <a:p>
            <a:r>
              <a:rPr lang="en-GB" sz="2400" b="1" dirty="0">
                <a:ea typeface="+mn-lt"/>
                <a:cs typeface="+mn-lt"/>
                <a:hlinkClick r:id="rId5"/>
              </a:rPr>
              <a:t>https://platform.moonshot.ai/console/api-keys</a:t>
            </a:r>
            <a:endParaRPr lang="en-GB" sz="2400" b="1" dirty="0">
              <a:ea typeface="+mn-lt"/>
              <a:cs typeface="+mn-lt"/>
            </a:endParaRPr>
          </a:p>
          <a:p>
            <a:endParaRPr lang="en-GB" sz="2400" b="1" dirty="0">
              <a:ea typeface="+mn-lt"/>
              <a:cs typeface="+mn-lt"/>
            </a:endParaRPr>
          </a:p>
          <a:p>
            <a:r>
              <a:rPr lang="en-GB" sz="2400" b="1" dirty="0">
                <a:ea typeface="+mn-lt"/>
                <a:cs typeface="+mn-lt"/>
                <a:hlinkClick r:id="rId6"/>
              </a:rPr>
              <a:t>https://github.com/moonshotai</a:t>
            </a:r>
            <a:endParaRPr lang="en-GB" sz="2400" b="1" dirty="0">
              <a:ea typeface="+mn-lt"/>
              <a:cs typeface="+mn-lt"/>
            </a:endParaRPr>
          </a:p>
          <a:p>
            <a:endParaRPr lang="en-GB" sz="2400" b="1" dirty="0">
              <a:ea typeface="+mn-lt"/>
              <a:cs typeface="+mn-lt"/>
            </a:endParaRPr>
          </a:p>
          <a:p>
            <a:r>
              <a:rPr lang="en-GB" sz="2400" b="1" dirty="0">
                <a:ea typeface="+mn-lt"/>
                <a:cs typeface="+mn-lt"/>
                <a:hlinkClick r:id="rId7"/>
              </a:rPr>
              <a:t>https://developers.openai.com/cookbook</a:t>
            </a:r>
            <a:endParaRPr lang="en-GB" sz="2400" b="1" dirty="0">
              <a:ea typeface="+mn-lt"/>
              <a:cs typeface="+mn-lt"/>
            </a:endParaRPr>
          </a:p>
          <a:p>
            <a:endParaRPr lang="en-GB" sz="2400" b="1" dirty="0"/>
          </a:p>
          <a:p>
            <a:r>
              <a:rPr lang="en-GB" sz="2400" b="1" dirty="0">
                <a:ea typeface="+mn-lt"/>
                <a:cs typeface="+mn-lt"/>
                <a:hlinkClick r:id="rId8"/>
              </a:rPr>
              <a:t>https://platform.moonshot.ai/docs/guide/kimi-k2-5-quickstart#overview-of-kimi-k25-model</a:t>
            </a:r>
            <a:r>
              <a:rPr lang="en-GB" sz="2400" b="1" dirty="0">
                <a:ea typeface="+mn-lt"/>
                <a:cs typeface="+mn-lt"/>
              </a:rPr>
              <a:t> </a:t>
            </a:r>
            <a:endParaRPr lang="en-GB" sz="2400" b="1" dirty="0"/>
          </a:p>
        </p:txBody>
      </p:sp>
    </p:spTree>
    <p:extLst>
      <p:ext uri="{BB962C8B-B14F-4D97-AF65-F5344CB8AC3E}">
        <p14:creationId xmlns="" xmlns:p14="http://schemas.microsoft.com/office/powerpoint/2010/main" val="30147181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="" xmlns:a16="http://schemas.microsoft.com/office/drawing/2014/main" id="{A3EFF7B1-6CB7-47D1-AD37-B870CA2B215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="" xmlns:a16="http://schemas.microsoft.com/office/drawing/2014/main" id="{7FA2962B-21B6-4689-A95D-A8FF6ADE47F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solidFill>
            <a:schemeClr val="bg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="" xmlns:a16="http://schemas.microsoft.com/office/drawing/2014/main" id="{A745280D-ED36-41FE-8EB1-CE597C99CFE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GrpSpPr>
        <p:grpSpPr>
          <a:xfrm rot="16200000">
            <a:off x="117348" y="774914"/>
            <a:ext cx="304800" cy="429768"/>
            <a:chOff x="215328" y="-46937"/>
            <a:chExt cx="304800" cy="2773841"/>
          </a:xfrm>
        </p:grpSpPr>
        <p:cxnSp>
          <p:nvCxnSpPr>
            <p:cNvPr id="23" name="Straight Connector 22">
              <a:extLst>
                <a:ext uri="{FF2B5EF4-FFF2-40B4-BE49-F238E27FC236}">
                  <a16:creationId xmlns="" xmlns:a16="http://schemas.microsoft.com/office/drawing/2014/main" id="{3D26CEB3-5AE4-4088-AD63-396DB50F2892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="" xmlns:a16="http://schemas.microsoft.com/office/drawing/2014/main" id="{4AA9279A-AD34-474C-834E-6BF658144A53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="" xmlns:a16="http://schemas.microsoft.com/office/drawing/2014/main" id="{B3589559-7D9A-4ECD-90BB-A5565E2DAE73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="" xmlns:a16="http://schemas.microsoft.com/office/drawing/2014/main" id="{701B1A71-DCEA-4EB2-8133-98A2CD6F0982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Group 27">
            <a:extLst>
              <a:ext uri="{FF2B5EF4-FFF2-40B4-BE49-F238E27FC236}">
                <a16:creationId xmlns="" xmlns:a16="http://schemas.microsoft.com/office/drawing/2014/main" id="{80E95A5C-1E97-41C3-9DEC-245FF6DEBF1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29" name="Oval 28">
              <a:extLst>
                <a:ext uri="{FF2B5EF4-FFF2-40B4-BE49-F238E27FC236}">
                  <a16:creationId xmlns="" xmlns:a16="http://schemas.microsoft.com/office/drawing/2014/main" id="{8D3C3374-C720-4FCD-B6CD-AEF1D1A61908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Oval 29">
              <a:extLst>
                <a:ext uri="{FF2B5EF4-FFF2-40B4-BE49-F238E27FC236}">
                  <a16:creationId xmlns="" xmlns:a16="http://schemas.microsoft.com/office/drawing/2014/main" id="{7639E2EF-4D23-4EA3-B29E-D6362FF72221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Oval 30">
              <a:extLst>
                <a:ext uri="{FF2B5EF4-FFF2-40B4-BE49-F238E27FC236}">
                  <a16:creationId xmlns="" xmlns:a16="http://schemas.microsoft.com/office/drawing/2014/main" id="{730820A4-6CEA-4BF7-8DE4-F5B2D2EB2396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Oval 31">
              <a:extLst>
                <a:ext uri="{FF2B5EF4-FFF2-40B4-BE49-F238E27FC236}">
                  <a16:creationId xmlns="" xmlns:a16="http://schemas.microsoft.com/office/drawing/2014/main" id="{F320E002-8AED-4D4F-A104-0585FFFB9AF6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3" name="Oval 32">
              <a:extLst>
                <a:ext uri="{FF2B5EF4-FFF2-40B4-BE49-F238E27FC236}">
                  <a16:creationId xmlns="" xmlns:a16="http://schemas.microsoft.com/office/drawing/2014/main" id="{6A0BF3F3-3A09-42CE-9483-114BD01DD96B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Oval 33">
              <a:extLst>
                <a:ext uri="{FF2B5EF4-FFF2-40B4-BE49-F238E27FC236}">
                  <a16:creationId xmlns="" xmlns:a16="http://schemas.microsoft.com/office/drawing/2014/main" id="{B233BD5C-DFC7-4EB7-B348-7C9B5B8D0AC7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6" name="Rectangle 35">
            <a:extLst>
              <a:ext uri="{FF2B5EF4-FFF2-40B4-BE49-F238E27FC236}">
                <a16:creationId xmlns="" xmlns:a16="http://schemas.microsoft.com/office/drawing/2014/main" id="{A00D2CE1-35C1-46E6-BD59-CEE668BD90F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8" name="Group 37">
            <a:extLst>
              <a:ext uri="{FF2B5EF4-FFF2-40B4-BE49-F238E27FC236}">
                <a16:creationId xmlns="" xmlns:a16="http://schemas.microsoft.com/office/drawing/2014/main" id="{A58DCE86-9AE1-46D1-96D6-04B8B3EDF6F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39" name="Straight Connector 38">
              <a:extLst>
                <a:ext uri="{FF2B5EF4-FFF2-40B4-BE49-F238E27FC236}">
                  <a16:creationId xmlns="" xmlns:a16="http://schemas.microsoft.com/office/drawing/2014/main" id="{89B74739-D423-4F25-A976-0A6CD86D1733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="" xmlns:a16="http://schemas.microsoft.com/office/drawing/2014/main" id="{6018E700-FF08-42AA-9237-24E7A74AD380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="" xmlns:a16="http://schemas.microsoft.com/office/drawing/2014/main" id="{46B3488A-8A55-403E-B9C9-75AFA0CF53E1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="" xmlns:a16="http://schemas.microsoft.com/office/drawing/2014/main" id="{15089B9D-BA8D-4A64-B95F-33940D9D6864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Rectangle 43">
            <a:extLst>
              <a:ext uri="{FF2B5EF4-FFF2-40B4-BE49-F238E27FC236}">
                <a16:creationId xmlns="" xmlns:a16="http://schemas.microsoft.com/office/drawing/2014/main" id="{E18403B7-F2C7-4C07-8522-21C31910902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6" name="Group 45">
            <a:extLst>
              <a:ext uri="{FF2B5EF4-FFF2-40B4-BE49-F238E27FC236}">
                <a16:creationId xmlns="" xmlns:a16="http://schemas.microsoft.com/office/drawing/2014/main" id="{23B58CC6-A99E-43AF-A467-256F19287FB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47" name="Straight Connector 46">
              <a:extLst>
                <a:ext uri="{FF2B5EF4-FFF2-40B4-BE49-F238E27FC236}">
                  <a16:creationId xmlns="" xmlns:a16="http://schemas.microsoft.com/office/drawing/2014/main" id="{8FE97852-3A18-4317-B17E-8C45174F96F9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="" xmlns:a16="http://schemas.microsoft.com/office/drawing/2014/main" id="{F9D0BC6E-6D0B-4589-B1BF-372BAA383950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="" xmlns:a16="http://schemas.microsoft.com/office/drawing/2014/main" id="{530B892E-E062-4B0A-B79E-E55D36EC9AEB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="" xmlns:a16="http://schemas.microsoft.com/office/drawing/2014/main" id="{8D1A4DF9-C28A-4C0A-B273-702F0C4880FF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DFFDD3F0-1CAA-F6A5-20B5-5648FEB3AF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502" y="495992"/>
            <a:ext cx="3499401" cy="1950308"/>
          </a:xfrm>
          <a:noFill/>
        </p:spPr>
        <p:txBody>
          <a:bodyPr anchor="ctr">
            <a:normAutofit/>
          </a:bodyPr>
          <a:lstStyle/>
          <a:p>
            <a:r>
              <a:rPr lang="en-GB" sz="4800" b="1" dirty="0"/>
              <a:t>Explore Kimi model </a:t>
            </a:r>
          </a:p>
        </p:txBody>
      </p:sp>
      <p:graphicFrame>
        <p:nvGraphicFramePr>
          <p:cNvPr id="37" name="Content Placeholder 2">
            <a:extLst>
              <a:ext uri="{FF2B5EF4-FFF2-40B4-BE49-F238E27FC236}">
                <a16:creationId xmlns="" xmlns:a16="http://schemas.microsoft.com/office/drawing/2014/main" id="{9FB56AC0-7960-24EE-B578-52F6838AA81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="" xmlns:p14="http://schemas.microsoft.com/office/powerpoint/2010/main" val="107582131"/>
              </p:ext>
            </p:extLst>
          </p:nvPr>
        </p:nvGraphicFramePr>
        <p:xfrm>
          <a:off x="3966208" y="855542"/>
          <a:ext cx="7203461" cy="50672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="" xmlns:p14="http://schemas.microsoft.com/office/powerpoint/2010/main" val="384435523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="" xmlns:a16="http://schemas.microsoft.com/office/drawing/2014/main" id="{723C66ED-DBBF-12CA-7F5E-813E0E7D036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GrpSpPr>
        <p:grpSpPr>
          <a:xfrm>
            <a:off x="0" y="-7622"/>
            <a:ext cx="12192000" cy="6894986"/>
            <a:chOff x="0" y="-7622"/>
            <a:chExt cx="12192000" cy="6894986"/>
          </a:xfrm>
        </p:grpSpPr>
        <p:sp>
          <p:nvSpPr>
            <p:cNvPr id="10" name="Rectangle 9">
              <a:extLst>
                <a:ext uri="{FF2B5EF4-FFF2-40B4-BE49-F238E27FC236}">
                  <a16:creationId xmlns="" xmlns:a16="http://schemas.microsoft.com/office/drawing/2014/main" id="{E3002B52-2669-1ED7-2E0F-0627FC31DFDC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>
            <a:xfrm rot="10800000">
              <a:off x="0" y="-7621"/>
              <a:ext cx="12192000" cy="6887364"/>
            </a:xfrm>
            <a:prstGeom prst="rect">
              <a:avLst/>
            </a:prstGeom>
            <a:gradFill>
              <a:gsLst>
                <a:gs pos="8000">
                  <a:schemeClr val="accent5"/>
                </a:gs>
                <a:gs pos="100000">
                  <a:schemeClr val="accent2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="" xmlns:a16="http://schemas.microsoft.com/office/drawing/2014/main" id="{82E9EC0D-91EA-9D35-F655-335C580AB3CB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>
            <a:xfrm>
              <a:off x="399" y="0"/>
              <a:ext cx="8216919" cy="6887364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  <a:alpha val="79000"/>
                  </a:schemeClr>
                </a:gs>
                <a:gs pos="40000">
                  <a:schemeClr val="accent5">
                    <a:lumMod val="60000"/>
                    <a:lumOff val="40000"/>
                    <a:alpha val="0"/>
                  </a:schemeClr>
                </a:gs>
              </a:gsLst>
              <a:lin ang="192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="" xmlns:a16="http://schemas.microsoft.com/office/drawing/2014/main" id="{7770627C-B480-1145-72DC-5B59DBE04874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>
            <a:xfrm>
              <a:off x="3739978" y="-7622"/>
              <a:ext cx="8451623" cy="6887367"/>
            </a:xfrm>
            <a:prstGeom prst="rect">
              <a:avLst/>
            </a:prstGeom>
            <a:gradFill>
              <a:gsLst>
                <a:gs pos="0">
                  <a:schemeClr val="accent5">
                    <a:lumMod val="75000"/>
                    <a:alpha val="67000"/>
                  </a:schemeClr>
                </a:gs>
                <a:gs pos="60000">
                  <a:schemeClr val="accent5">
                    <a:alpha val="0"/>
                  </a:scheme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="" xmlns:a16="http://schemas.microsoft.com/office/drawing/2014/main" id="{E9F81D39-93D1-019C-74DC-4710F5334637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>
            <a:xfrm rot="10800000">
              <a:off x="9127281" y="7060"/>
              <a:ext cx="3064320" cy="6872683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alpha val="58000"/>
                  </a:schemeClr>
                </a:gs>
                <a:gs pos="41000">
                  <a:schemeClr val="accent2">
                    <a:alpha val="0"/>
                  </a:schemeClr>
                </a:gs>
              </a:gsLst>
              <a:lin ang="12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="" xmlns:a16="http://schemas.microsoft.com/office/drawing/2014/main" id="{AE0F020F-546C-B2E7-8BA2-58E92B16B3E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9000"/>
          </a:blip>
          <a:srcRect r="429" b="2"/>
          <a:stretch>
            <a:fillRect/>
          </a:stretch>
        </p:blipFill>
        <p:spPr>
          <a:xfrm>
            <a:off x="20" y="-7624"/>
            <a:ext cx="12191981" cy="6887365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41795054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EAA23E3-26B1-D7F6-B20E-D4A90C782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47811" y="210745"/>
            <a:ext cx="5011340" cy="77512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600" b="1" kern="1200" dirty="0">
                <a:latin typeface="+mj-lt"/>
                <a:ea typeface="+mj-ea"/>
                <a:cs typeface="+mj-cs"/>
              </a:rPr>
              <a:t>Previous Video Link --&gt;</a:t>
            </a:r>
            <a:endParaRPr lang="en-US" sz="3600" b="1" kern="1200" dirty="0">
              <a:latin typeface="+mj-lt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CA9D6BE5-C5CB-1E5A-6561-88FEB3BEC4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77046" y="980385"/>
            <a:ext cx="6871518" cy="548316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Openclaw</a:t>
            </a:r>
            <a:r>
              <a:rPr lang="en-US" sz="20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(Part1) -- </a:t>
            </a:r>
            <a:endParaRPr lang="en-US" sz="2000" b="1" dirty="0">
              <a:solidFill>
                <a:schemeClr val="tx1"/>
              </a:solidFill>
            </a:endParaRPr>
          </a:p>
          <a:p>
            <a:r>
              <a:rPr lang="en-US" sz="20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  <a:hlinkClick r:id="rId2">
                  <a:extLst>
                    <a:ext uri="{A12FA001-AC4F-418D-AE19-62706E023703}">
                      <ahyp:hlinkClr xmlns="" xmlns:ahyp="http://schemas.microsoft.com/office/drawing/2018/hyperlinkcolor" val="tx"/>
                    </a:ext>
                  </a:extLst>
                </a:hlinkClick>
              </a:rPr>
              <a:t>https://www.youtube.com/watch?v=QdznP9S1wS0</a:t>
            </a:r>
            <a:endParaRPr lang="en-US" sz="2000" b="1" kern="1200" dirty="0">
              <a:solidFill>
                <a:schemeClr val="tx1"/>
              </a:solidFill>
              <a:latin typeface="+mn-lt"/>
            </a:endParaRPr>
          </a:p>
          <a:p>
            <a:endParaRPr lang="en-US" sz="2000" b="1" kern="1200" dirty="0">
              <a:solidFill>
                <a:schemeClr val="tx1"/>
              </a:solidFill>
              <a:latin typeface="+mn-lt"/>
            </a:endParaRPr>
          </a:p>
          <a:p>
            <a:r>
              <a:rPr lang="en-US" sz="20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Agentic AI playlist -- </a:t>
            </a:r>
            <a:endParaRPr lang="en-US" sz="2000" b="1" dirty="0">
              <a:solidFill>
                <a:schemeClr val="tx1"/>
              </a:solidFill>
            </a:endParaRPr>
          </a:p>
          <a:p>
            <a:r>
              <a:rPr lang="en-US" sz="20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  <a:hlinkClick r:id="rId3">
                  <a:extLst>
                    <a:ext uri="{A12FA001-AC4F-418D-AE19-62706E023703}">
                      <ahyp:hlinkClr xmlns="" xmlns:ahyp="http://schemas.microsoft.com/office/drawing/2018/hyperlinkcolor" val="tx"/>
                    </a:ext>
                  </a:extLst>
                </a:hlinkClick>
              </a:rPr>
              <a:t>https://www.youtube.com/playlist?list=PLVlQHNRLflP8Pt3wVlRWRaXZXi79cIwSq</a:t>
            </a:r>
            <a:endParaRPr lang="en-US" sz="2000" b="1" kern="1200" dirty="0">
              <a:solidFill>
                <a:schemeClr val="tx1"/>
              </a:solidFill>
              <a:latin typeface="+mn-lt"/>
            </a:endParaRPr>
          </a:p>
          <a:p>
            <a:endParaRPr lang="en-US" sz="2000" b="1" kern="1200" dirty="0">
              <a:solidFill>
                <a:schemeClr val="tx1"/>
              </a:solidFill>
              <a:latin typeface="+mn-lt"/>
            </a:endParaRPr>
          </a:p>
          <a:p>
            <a:r>
              <a:rPr lang="en-US" sz="20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==============</a:t>
            </a:r>
            <a:endParaRPr lang="en-US" sz="2000" b="1" kern="1200" dirty="0">
              <a:solidFill>
                <a:schemeClr val="tx1"/>
              </a:solidFill>
              <a:latin typeface="+mn-lt"/>
            </a:endParaRPr>
          </a:p>
          <a:p>
            <a:r>
              <a:rPr lang="en-US" sz="20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FSDS with Gen AI &amp; Agentic AI @ 7:00 PM (IST) by Mr. Prakash Senapati From 2nd Jan</a:t>
            </a:r>
            <a:endParaRPr lang="en-US" sz="2000" b="1" kern="1200" dirty="0">
              <a:solidFill>
                <a:schemeClr val="tx1"/>
              </a:solidFill>
              <a:latin typeface="+mn-lt"/>
            </a:endParaRPr>
          </a:p>
          <a:p>
            <a:r>
              <a:rPr lang="en-US" sz="20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👉🏻Live Zoom Class Link : </a:t>
            </a:r>
            <a:r>
              <a:rPr lang="en-US" sz="2000" b="1" kern="1200" dirty="0">
                <a:solidFill>
                  <a:schemeClr val="tx1"/>
                </a:solidFill>
                <a:hlinkClick r:id="rId4">
                  <a:extLst>
                    <a:ext uri="{A12FA001-AC4F-418D-AE19-62706E023703}">
                      <ahyp:hlinkClr xmlns="" xmlns:ahyp="http://schemas.microsoft.com/office/drawing/2018/hyperlinkcolor" val="tx"/>
                    </a:ext>
                  </a:extLst>
                </a:hlinkClick>
              </a:rPr>
              <a:t>https://zoom.us/j/82006090582</a:t>
            </a:r>
            <a:endParaRPr lang="en-US" dirty="0">
              <a:solidFill>
                <a:schemeClr val="tx1"/>
              </a:solidFill>
              <a:hlinkClick r:id="">
                <a:extLst>
                  <a:ext uri="{A12FA001-AC4F-418D-AE19-62706E023703}">
                    <ahyp:hlinkClr xmlns="" xmlns:ahyp="http://schemas.microsoft.com/office/drawing/2018/hyperlinkcolor" val="tx"/>
                  </a:ext>
                </a:extLst>
              </a:hlinkClick>
            </a:endParaRPr>
          </a:p>
          <a:p>
            <a:r>
              <a:rPr lang="en-US" sz="20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==============</a:t>
            </a:r>
            <a:endParaRPr lang="en-US" sz="2000" b="1" kern="1200" dirty="0">
              <a:solidFill>
                <a:schemeClr val="tx1"/>
              </a:solidFill>
              <a:latin typeface="+mn-lt"/>
            </a:endParaRPr>
          </a:p>
          <a:p>
            <a:endParaRPr lang="en-US" sz="2000" b="1" kern="1200" dirty="0">
              <a:solidFill>
                <a:schemeClr val="tx1"/>
              </a:solidFill>
              <a:latin typeface="+mn-lt"/>
            </a:endParaRPr>
          </a:p>
          <a:p>
            <a:endParaRPr lang="en-US" sz="2000" b="1" kern="1200" dirty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5" name="Picture 4" descr="A poster for a classroom and training course&#10;&#10;AI-generated content may be incorrect.">
            <a:extLst>
              <a:ext uri="{FF2B5EF4-FFF2-40B4-BE49-F238E27FC236}">
                <a16:creationId xmlns="" xmlns:a16="http://schemas.microsoft.com/office/drawing/2014/main" id="{8B35E2D3-72A0-2475-BBFB-4559C6BCE7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6185" y="990489"/>
            <a:ext cx="4893129" cy="4884690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="" xmlns:a16="http://schemas.microsoft.com/office/drawing/2014/main" id="{7E0FE442-FDE7-03A0-48D0-17C4325DB29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GrpSpPr>
        <p:grpSpPr>
          <a:xfrm>
            <a:off x="-5025" y="6737718"/>
            <a:ext cx="12207200" cy="123363"/>
            <a:chOff x="-5025" y="6737718"/>
            <a:chExt cx="12207200" cy="123363"/>
          </a:xfrm>
        </p:grpSpPr>
        <p:sp>
          <p:nvSpPr>
            <p:cNvPr id="7" name="Rectangle 6">
              <a:extLst>
                <a:ext uri="{FF2B5EF4-FFF2-40B4-BE49-F238E27FC236}">
                  <a16:creationId xmlns="" xmlns:a16="http://schemas.microsoft.com/office/drawing/2014/main" id="{45A187A5-6081-1B66-F1E9-CB90253CCB69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="" xmlns:a16="http://schemas.microsoft.com/office/drawing/2014/main" id="{1122D013-AC81-41D9-9EAC-40AF25940B16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="" xmlns:p14="http://schemas.microsoft.com/office/powerpoint/2010/main" val="22792955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=""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90</TotalTime>
  <Words>71</Words>
  <Application>Microsoft Office PowerPoint</Application>
  <PresentationFormat>Custom</PresentationFormat>
  <Paragraphs>37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Slide 1</vt:lpstr>
      <vt:lpstr>Slide 2</vt:lpstr>
      <vt:lpstr>What is Kimi K2, 2.5 ?</vt:lpstr>
      <vt:lpstr>Slide 4</vt:lpstr>
      <vt:lpstr>Let's discuss official website</vt:lpstr>
      <vt:lpstr>Explore Kimi model </vt:lpstr>
      <vt:lpstr>Slide 7</vt:lpstr>
      <vt:lpstr>Previous Video Link --&gt;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/>
  <cp:lastModifiedBy>Admin</cp:lastModifiedBy>
  <cp:revision>231</cp:revision>
  <dcterms:created xsi:type="dcterms:W3CDTF">2026-02-14T12:34:28Z</dcterms:created>
  <dcterms:modified xsi:type="dcterms:W3CDTF">2026-02-15T06:03:22Z</dcterms:modified>
</cp:coreProperties>
</file>